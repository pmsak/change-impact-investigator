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60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429000" cy="347472"/>
          </a:xfrm>
          <a:prstGeom prst="roundRect">
            <a:avLst>
              <a:gd name="adj" fmla="val 50000"/>
            </a:avLst>
          </a:prstGeom>
          <a:solidFill>
            <a:srgbClr val="3A2E1C"/>
          </a:solidFill>
          <a:ln w="9525">
            <a:solidFill>
              <a:srgbClr val="D98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DEVELOPER TOOL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6309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</a:t>
            </a:r>
            <a:endParaRPr lang="en-US" sz="40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“Know the blast radius before you change code.”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272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change to one Python function can ripple through its callers, tests, and history — and most of that ripple is invisible until something breaks.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77640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87398" y="397764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843430" y="3977640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/>
        </p:spPr>
      </p:sp>
      <p:sp>
        <p:nvSpPr>
          <p:cNvPr id="11" name="Text 9"/>
          <p:cNvSpPr/>
          <p:nvPr/>
        </p:nvSpPr>
        <p:spPr>
          <a:xfrm>
            <a:off x="1843430" y="3977640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82189" y="397764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138221" y="3977640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/>
        </p:spPr>
      </p:sp>
      <p:sp>
        <p:nvSpPr>
          <p:cNvPr id="14" name="Text 12"/>
          <p:cNvSpPr/>
          <p:nvPr/>
        </p:nvSpPr>
        <p:spPr>
          <a:xfrm>
            <a:off x="3138221" y="3977640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76979" y="397764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433011" y="3977640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/>
        </p:spPr>
      </p:sp>
      <p:sp>
        <p:nvSpPr>
          <p:cNvPr id="17" name="Text 15"/>
          <p:cNvSpPr/>
          <p:nvPr/>
        </p:nvSpPr>
        <p:spPr>
          <a:xfrm>
            <a:off x="4433011" y="3977640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71770" y="397764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727802" y="3977640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/>
        </p:spPr>
      </p:sp>
      <p:sp>
        <p:nvSpPr>
          <p:cNvPr id="20" name="Text 18"/>
          <p:cNvSpPr/>
          <p:nvPr/>
        </p:nvSpPr>
        <p:spPr>
          <a:xfrm>
            <a:off x="5727802" y="3977640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6217920" cy="1143000"/>
          </a:xfrm>
          <a:prstGeom prst="roundRect">
            <a:avLst>
              <a:gd name="adj" fmla="val 8000"/>
            </a:avLst>
          </a:prstGeom>
          <a:solidFill>
            <a:srgbClr val="222226"/>
          </a:solidFill>
          <a:ln w="12700">
            <a:solidFill>
              <a:srgbClr val="3737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61772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  </a:t>
            </a:r>
            <a:r>
              <a:rPr lang="en-US" sz="1250" dirty="0">
                <a:solidFill>
                  <a:srgbClr val="E8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evidence-first tool that investigates a proposed code change and turns deterministic repository evidence into an AI-assisted impact assessment.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95160" y="1600200"/>
            <a:ext cx="4709160" cy="2932213"/>
          </a:xfrm>
          <a:prstGeom prst="roundRect">
            <a:avLst>
              <a:gd name="adj" fmla="val 2495"/>
            </a:avLst>
          </a:prstGeom>
          <a:solidFill>
            <a:srgbClr val="0E0E10"/>
          </a:solidFill>
          <a:ln w="12700">
            <a:solidFill>
              <a:srgbClr val="3A3A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23176" y="1691640"/>
            <a:ext cx="73152" cy="73152"/>
          </a:xfrm>
          <a:prstGeom prst="ellipse">
            <a:avLst/>
          </a:prstGeom>
          <a:solidFill>
            <a:srgbClr val="5A5A60"/>
          </a:solidFill>
          <a:ln/>
        </p:spPr>
      </p:sp>
      <p:sp>
        <p:nvSpPr>
          <p:cNvPr id="25" name="Shape 23"/>
          <p:cNvSpPr/>
          <p:nvPr/>
        </p:nvSpPr>
        <p:spPr>
          <a:xfrm>
            <a:off x="7251192" y="1691640"/>
            <a:ext cx="73152" cy="73152"/>
          </a:xfrm>
          <a:prstGeom prst="ellipse">
            <a:avLst/>
          </a:prstGeom>
          <a:solidFill>
            <a:srgbClr val="5A5A60"/>
          </a:solidFill>
          <a:ln/>
        </p:spPr>
      </p:sp>
      <p:sp>
        <p:nvSpPr>
          <p:cNvPr id="26" name="Shape 24"/>
          <p:cNvSpPr/>
          <p:nvPr/>
        </p:nvSpPr>
        <p:spPr>
          <a:xfrm>
            <a:off x="7379208" y="1691640"/>
            <a:ext cx="73152" cy="73152"/>
          </a:xfrm>
          <a:prstGeom prst="ellipse">
            <a:avLst/>
          </a:prstGeom>
          <a:solidFill>
            <a:srgbClr val="5A5A60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AI-powered code intelligence for software engineering</a:t>
            </a:r>
            <a:endParaRPr lang="en-US" sz="9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69A7F64-25B8-4177-F5E6-8CA51B64B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1874520"/>
            <a:ext cx="4681728" cy="26578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developer's question to a structured, evidence-backed impact assessment.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12302" y="1417320"/>
            <a:ext cx="457200" cy="457200"/>
          </a:xfrm>
          <a:prstGeom prst="ellipse">
            <a:avLst/>
          </a:prstGeom>
          <a:solidFill>
            <a:srgbClr val="1C1C1E"/>
          </a:solidFill>
          <a:ln/>
        </p:spPr>
      </p:sp>
      <p:pic>
        <p:nvPicPr>
          <p:cNvPr id="5" name="Image 0" descr="/home/claude/work/icon_edi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738" y="147675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929384"/>
            <a:ext cx="18588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931997" y="14447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A2B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696827" y="1417320"/>
            <a:ext cx="457200" cy="457200"/>
          </a:xfrm>
          <a:prstGeom prst="ellipse">
            <a:avLst/>
          </a:prstGeom>
          <a:solidFill>
            <a:srgbClr val="1C1C1E"/>
          </a:solidFill>
          <a:ln/>
        </p:spPr>
      </p:sp>
      <p:pic>
        <p:nvPicPr>
          <p:cNvPr id="9" name="Image 1" descr="/home/claude/work/icon_githu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263" y="14767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96005" y="1929384"/>
            <a:ext cx="18588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516521" y="14447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A2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81351" y="1417320"/>
            <a:ext cx="457200" cy="457200"/>
          </a:xfrm>
          <a:prstGeom prst="ellipse">
            <a:avLst/>
          </a:prstGeom>
          <a:solidFill>
            <a:srgbClr val="1C1C1E"/>
          </a:solidFill>
          <a:ln/>
        </p:spPr>
      </p:sp>
      <p:pic>
        <p:nvPicPr>
          <p:cNvPr id="13" name="Image 2" descr="/home/claude/work/icon_cod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0787" y="147675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80529" y="1929384"/>
            <a:ext cx="18588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Analysis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101046" y="14447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A2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865876" y="1417320"/>
            <a:ext cx="457200" cy="457200"/>
          </a:xfrm>
          <a:prstGeom prst="ellipse">
            <a:avLst/>
          </a:prstGeom>
          <a:solidFill>
            <a:srgbClr val="1C1C1E"/>
          </a:solidFill>
          <a:ln/>
        </p:spPr>
      </p:sp>
      <p:pic>
        <p:nvPicPr>
          <p:cNvPr id="17" name="Image 3" descr="/home/claude/work/icon_checkCirc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147675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65054" y="1929384"/>
            <a:ext cx="18588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6685570" y="14447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A2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450401" y="1417320"/>
            <a:ext cx="457200" cy="457200"/>
          </a:xfrm>
          <a:prstGeom prst="ellipse">
            <a:avLst/>
          </a:prstGeom>
          <a:solidFill>
            <a:srgbClr val="1C1C1E"/>
          </a:solidFill>
          <a:ln/>
        </p:spPr>
      </p:sp>
      <p:pic>
        <p:nvPicPr>
          <p:cNvPr id="21" name="Image 4" descr="/home/claude/work/icon_gitCommi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9837" y="147675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49578" y="1929384"/>
            <a:ext cx="18588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8270095" y="14447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A2B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9034925" y="1417320"/>
            <a:ext cx="457200" cy="457200"/>
          </a:xfrm>
          <a:prstGeom prst="ellipse">
            <a:avLst/>
          </a:prstGeom>
          <a:solidFill>
            <a:srgbClr val="1C1C1E"/>
          </a:solidFill>
          <a:ln/>
        </p:spPr>
      </p:sp>
      <p:pic>
        <p:nvPicPr>
          <p:cNvPr id="25" name="Image 5" descr="/home/claude/work/icon_layer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4361" y="1476756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34103" y="1929384"/>
            <a:ext cx="18588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850" dirty="0"/>
          </a:p>
        </p:txBody>
      </p:sp>
      <p:sp>
        <p:nvSpPr>
          <p:cNvPr id="27" name="Text 19"/>
          <p:cNvSpPr/>
          <p:nvPr/>
        </p:nvSpPr>
        <p:spPr>
          <a:xfrm>
            <a:off x="9854619" y="14447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A2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10619450" y="1417320"/>
            <a:ext cx="457200" cy="457200"/>
          </a:xfrm>
          <a:prstGeom prst="ellipse">
            <a:avLst/>
          </a:prstGeom>
          <a:solidFill>
            <a:srgbClr val="1C1C1E"/>
          </a:solidFill>
          <a:ln/>
        </p:spPr>
      </p:sp>
      <p:pic>
        <p:nvPicPr>
          <p:cNvPr id="29" name="Image 6" descr="/home/claude/work/icon_cpu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78886" y="1476756"/>
            <a:ext cx="338328" cy="33832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918627" y="1929384"/>
            <a:ext cx="18588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850" dirty="0"/>
          </a:p>
        </p:txBody>
      </p:sp>
      <p:sp>
        <p:nvSpPr>
          <p:cNvPr id="31" name="Shape 22"/>
          <p:cNvSpPr/>
          <p:nvPr/>
        </p:nvSpPr>
        <p:spPr>
          <a:xfrm>
            <a:off x="548640" y="2606040"/>
            <a:ext cx="2072030" cy="34290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1333195" y="2862072"/>
            <a:ext cx="502920" cy="502920"/>
          </a:xfrm>
          <a:prstGeom prst="ellipse">
            <a:avLst/>
          </a:prstGeom>
          <a:solidFill>
            <a:srgbClr val="3A2E1C"/>
          </a:solidFill>
          <a:ln/>
        </p:spPr>
      </p:sp>
      <p:pic>
        <p:nvPicPr>
          <p:cNvPr id="33" name="Image 7" descr="/home/claude/work/icon_code_amb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8575" y="2927452"/>
            <a:ext cx="372161" cy="372161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58368" y="3520440"/>
            <a:ext cx="1852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AST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713232" y="3959352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functions and their caller/callee relationships through deterministic static analysis — not AI guesses.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2803550" y="2606040"/>
            <a:ext cx="2072030" cy="34290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3588106" y="2862072"/>
            <a:ext cx="502920" cy="502920"/>
          </a:xfrm>
          <a:prstGeom prst="ellipse">
            <a:avLst/>
          </a:prstGeom>
          <a:solidFill>
            <a:srgbClr val="3A2E1C"/>
          </a:solidFill>
          <a:ln/>
        </p:spPr>
      </p:sp>
      <p:pic>
        <p:nvPicPr>
          <p:cNvPr id="38" name="Image 8" descr="/home/claude/work/icon_checkCircle_amb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3485" y="2927452"/>
            <a:ext cx="372161" cy="372161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2913278" y="3520440"/>
            <a:ext cx="1852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2968142" y="3959352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related tests and reports current pass, fail, and error status.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5058461" y="2606040"/>
            <a:ext cx="2072030" cy="34290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5843016" y="2862072"/>
            <a:ext cx="502920" cy="502920"/>
          </a:xfrm>
          <a:prstGeom prst="ellipse">
            <a:avLst/>
          </a:prstGeom>
          <a:solidFill>
            <a:srgbClr val="3A2E1C"/>
          </a:solidFill>
          <a:ln/>
        </p:spPr>
      </p:sp>
      <p:pic>
        <p:nvPicPr>
          <p:cNvPr id="43" name="Image 9" descr="/home/claude/work/icon_barChart_amb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8396" y="2927452"/>
            <a:ext cx="372161" cy="372161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168189" y="3520440"/>
            <a:ext cx="1852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45" name="Text 33"/>
          <p:cNvSpPr/>
          <p:nvPr/>
        </p:nvSpPr>
        <p:spPr>
          <a:xfrm>
            <a:off x="5223053" y="3959352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whether code paths around the change are actually exercised by the test suite.</a:t>
            </a:r>
            <a:endParaRPr lang="en-US" sz="1050" dirty="0"/>
          </a:p>
        </p:txBody>
      </p:sp>
      <p:sp>
        <p:nvSpPr>
          <p:cNvPr id="46" name="Shape 34"/>
          <p:cNvSpPr/>
          <p:nvPr/>
        </p:nvSpPr>
        <p:spPr>
          <a:xfrm>
            <a:off x="7313371" y="2606040"/>
            <a:ext cx="2072030" cy="34290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8097926" y="2862072"/>
            <a:ext cx="502920" cy="502920"/>
          </a:xfrm>
          <a:prstGeom prst="ellipse">
            <a:avLst/>
          </a:prstGeom>
          <a:solidFill>
            <a:srgbClr val="3A2E1C"/>
          </a:solidFill>
          <a:ln/>
        </p:spPr>
      </p:sp>
      <p:pic>
        <p:nvPicPr>
          <p:cNvPr id="48" name="Image 10" descr="/home/claude/work/icon_gitCommit_amb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3306" y="2927452"/>
            <a:ext cx="372161" cy="372161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423099" y="3520440"/>
            <a:ext cx="1852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</a:t>
            </a:r>
            <a:endParaRPr lang="en-US" sz="1300" dirty="0"/>
          </a:p>
        </p:txBody>
      </p:sp>
      <p:sp>
        <p:nvSpPr>
          <p:cNvPr id="50" name="Text 37"/>
          <p:cNvSpPr/>
          <p:nvPr/>
        </p:nvSpPr>
        <p:spPr>
          <a:xfrm>
            <a:off x="7477963" y="3959352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historical context — prior commits, authors, and messages tied to the affected code.</a:t>
            </a:r>
            <a:endParaRPr lang="en-US" sz="1050" dirty="0"/>
          </a:p>
        </p:txBody>
      </p:sp>
      <p:sp>
        <p:nvSpPr>
          <p:cNvPr id="51" name="Shape 38"/>
          <p:cNvSpPr/>
          <p:nvPr/>
        </p:nvSpPr>
        <p:spPr>
          <a:xfrm>
            <a:off x="9568282" y="2606040"/>
            <a:ext cx="2072030" cy="34290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10352837" y="2862072"/>
            <a:ext cx="502920" cy="502920"/>
          </a:xfrm>
          <a:prstGeom prst="ellipse">
            <a:avLst/>
          </a:prstGeom>
          <a:solidFill>
            <a:srgbClr val="3A2E1C"/>
          </a:solidFill>
          <a:ln/>
        </p:spPr>
      </p:sp>
      <p:pic>
        <p:nvPicPr>
          <p:cNvPr id="53" name="Image 11" descr="/home/claude/work/icon_cpu_amb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18216" y="2927452"/>
            <a:ext cx="372161" cy="372161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9678010" y="3520440"/>
            <a:ext cx="1852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1300" dirty="0"/>
          </a:p>
        </p:txBody>
      </p:sp>
      <p:sp>
        <p:nvSpPr>
          <p:cNvPr id="55" name="Text 41"/>
          <p:cNvSpPr/>
          <p:nvPr/>
        </p:nvSpPr>
        <p:spPr>
          <a:xfrm>
            <a:off x="9732874" y="3959352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the collected evidence into a concise, developer-facing impact assessment.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Before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collects proof first. The AI interprets — it doesn't invent.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42516"/>
            <a:ext cx="566928" cy="566928"/>
          </a:xfrm>
          <a:prstGeom prst="ellipse">
            <a:avLst/>
          </a:prstGeom>
          <a:solidFill>
            <a:srgbClr val="3A2E1C"/>
          </a:solidFill>
          <a:ln/>
        </p:spPr>
      </p:sp>
      <p:pic>
        <p:nvPicPr>
          <p:cNvPr id="6" name="Image 0" descr="/home/claude/work/icon_share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7" y="1916217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00200"/>
            <a:ext cx="4265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08760" y="1947672"/>
            <a:ext cx="42656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and indirect callers reveal how far a change could propagate.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31636" y="14173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51092" y="1842516"/>
            <a:ext cx="566928" cy="566928"/>
          </a:xfrm>
          <a:prstGeom prst="ellipse">
            <a:avLst/>
          </a:prstGeom>
          <a:solidFill>
            <a:srgbClr val="3A2E1C"/>
          </a:solidFill>
          <a:ln/>
        </p:spPr>
      </p:sp>
      <p:pic>
        <p:nvPicPr>
          <p:cNvPr id="11" name="Image 1" descr="/home/claude/work/icon_checkCircle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793" y="1916217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1756" y="1600200"/>
            <a:ext cx="4265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91756" y="1947672"/>
            <a:ext cx="42656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tests show what functionality is currently validated.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090672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68096" y="3515868"/>
            <a:ext cx="566928" cy="566928"/>
          </a:xfrm>
          <a:prstGeom prst="ellipse">
            <a:avLst/>
          </a:prstGeom>
          <a:solidFill>
            <a:srgbClr val="3A2E1C"/>
          </a:solidFill>
          <a:ln/>
        </p:spPr>
      </p:sp>
      <p:pic>
        <p:nvPicPr>
          <p:cNvPr id="16" name="Image 2" descr="/home/claude/work/icon_barChart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7" y="3589569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73552"/>
            <a:ext cx="4265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08760" y="3621024"/>
            <a:ext cx="42656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Uncovered paths flag areas that may need additional testing.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31636" y="3090672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51092" y="3515868"/>
            <a:ext cx="566928" cy="566928"/>
          </a:xfrm>
          <a:prstGeom prst="ellipse">
            <a:avLst/>
          </a:prstGeom>
          <a:solidFill>
            <a:srgbClr val="3A2E1C"/>
          </a:solidFill>
          <a:ln/>
        </p:spPr>
      </p:sp>
      <p:pic>
        <p:nvPicPr>
          <p:cNvPr id="21" name="Image 3" descr="/home/claude/work/icon_gitCommit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793" y="3589569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91756" y="3273552"/>
            <a:ext cx="4265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91756" y="3621024"/>
            <a:ext cx="42656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changes provide historical context around the affected code.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286000" y="4764024"/>
            <a:ext cx="2368296" cy="438912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/>
        </p:spPr>
      </p:sp>
      <p:sp>
        <p:nvSpPr>
          <p:cNvPr id="25" name="Text 19"/>
          <p:cNvSpPr/>
          <p:nvPr/>
        </p:nvSpPr>
        <p:spPr>
          <a:xfrm>
            <a:off x="2286000" y="4764024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Evidence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654296" y="4764024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910328" y="4764024"/>
            <a:ext cx="2368296" cy="438912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/>
        </p:spPr>
      </p:sp>
      <p:sp>
        <p:nvSpPr>
          <p:cNvPr id="28" name="Text 22"/>
          <p:cNvSpPr/>
          <p:nvPr/>
        </p:nvSpPr>
        <p:spPr>
          <a:xfrm>
            <a:off x="4910328" y="4764024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278624" y="4764024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7534656" y="4764024"/>
            <a:ext cx="2368296" cy="438912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/>
        </p:spPr>
      </p:sp>
      <p:sp>
        <p:nvSpPr>
          <p:cNvPr id="31" name="Text 25"/>
          <p:cNvSpPr/>
          <p:nvPr/>
        </p:nvSpPr>
        <p:spPr>
          <a:xfrm>
            <a:off x="7534656" y="4764024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1280160" y="5440680"/>
            <a:ext cx="9628632" cy="512064"/>
          </a:xfrm>
          <a:prstGeom prst="roundRect">
            <a:avLst>
              <a:gd name="adj" fmla="val 10714"/>
            </a:avLst>
          </a:prstGeom>
          <a:solidFill>
            <a:srgbClr val="3A2E1C"/>
          </a:solidFill>
          <a:ln w="9525">
            <a:solidFill>
              <a:srgbClr val="D98A2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463040" y="5440680"/>
            <a:ext cx="9262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B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discovers dependencies on its own — it reasons only over evidence already collected from the repository.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Application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Streamlit tool — not a mockup.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29400" cy="4005184"/>
          </a:xfrm>
          <a:prstGeom prst="roundRect">
            <a:avLst>
              <a:gd name="adj" fmla="val 1598"/>
            </a:avLst>
          </a:prstGeom>
          <a:solidFill>
            <a:srgbClr val="0E0E10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591056"/>
            <a:ext cx="64008" cy="64008"/>
          </a:xfrm>
          <a:prstGeom prst="ellipse">
            <a:avLst/>
          </a:prstGeom>
          <a:solidFill>
            <a:srgbClr val="5A5A6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91056"/>
            <a:ext cx="64008" cy="64008"/>
          </a:xfrm>
          <a:prstGeom prst="ellipse">
            <a:avLst/>
          </a:prstGeom>
          <a:solidFill>
            <a:srgbClr val="5A5A60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1591056"/>
            <a:ext cx="64008" cy="64008"/>
          </a:xfrm>
          <a:prstGeom prst="ellipse">
            <a:avLst/>
          </a:prstGeom>
          <a:solidFill>
            <a:srgbClr val="5A5A60"/>
          </a:solidFill>
          <a:ln/>
        </p:spPr>
      </p:sp>
      <p:pic>
        <p:nvPicPr>
          <p:cNvPr id="8" name="Image 0" descr="/home/claude/work/Screenshot_2026-09-27_1752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46504"/>
            <a:ext cx="6629400" cy="376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52360" y="1508760"/>
            <a:ext cx="438912" cy="438912"/>
          </a:xfrm>
          <a:prstGeom prst="ellipse">
            <a:avLst/>
          </a:prstGeom>
          <a:solidFill>
            <a:srgbClr val="3A2E1C"/>
          </a:solidFill>
          <a:ln/>
        </p:spPr>
      </p:sp>
      <p:pic>
        <p:nvPicPr>
          <p:cNvPr id="10" name="Image 1" descr="/home/claude/work/icon_github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419" y="1565819"/>
            <a:ext cx="324795" cy="3247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0" y="1481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Enter the repository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046720" y="17647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GitHub repository URL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452360" y="2551176"/>
            <a:ext cx="438912" cy="438912"/>
          </a:xfrm>
          <a:prstGeom prst="ellipse">
            <a:avLst/>
          </a:prstGeom>
          <a:solidFill>
            <a:srgbClr val="3A2E1C"/>
          </a:solidFill>
          <a:ln/>
        </p:spPr>
      </p:sp>
      <p:pic>
        <p:nvPicPr>
          <p:cNvPr id="14" name="Image 2" descr="/home/claude/work/icon_edit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419" y="2608235"/>
            <a:ext cx="324795" cy="3247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0" y="25237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Describe the change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046720" y="28072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language — e.g. “what happens if I change calculate_subtotal?”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452360" y="3593592"/>
            <a:ext cx="438912" cy="438912"/>
          </a:xfrm>
          <a:prstGeom prst="ellipse">
            <a:avLst/>
          </a:prstGeom>
          <a:solidFill>
            <a:srgbClr val="3A2E1C"/>
          </a:solidFill>
          <a:ln/>
        </p:spPr>
      </p:sp>
      <p:pic>
        <p:nvPicPr>
          <p:cNvPr id="18" name="Image 3" descr="/home/claude/work/icon_fileText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9419" y="3650651"/>
            <a:ext cx="324795" cy="3247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46720" y="3566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test directories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046720" y="384962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where the test suite lives so results can be checked against it.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452360" y="4636008"/>
            <a:ext cx="438912" cy="438912"/>
          </a:xfrm>
          <a:prstGeom prst="ellipse">
            <a:avLst/>
          </a:prstGeom>
          <a:solidFill>
            <a:srgbClr val="3A2E1C"/>
          </a:solidFill>
          <a:ln/>
        </p:spPr>
      </p:sp>
      <p:pic>
        <p:nvPicPr>
          <p:cNvPr id="22" name="Image 4" descr="/home/claude/work/icon_play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9419" y="4693067"/>
            <a:ext cx="324795" cy="3247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46720" y="46085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the analysis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8046720" y="4892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Dependency, test, coverage, and history evidence feed an AI-assisted impact assessment.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48640" y="564196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 · evidence-backed change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Repository Evidence To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impact assessment gives back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80894" cy="457200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5808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29534" y="19659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5566" y="1965960"/>
            <a:ext cx="2580894" cy="457200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/>
        </p:spPr>
      </p:sp>
      <p:sp>
        <p:nvSpPr>
          <p:cNvPr id="8" name="Text 6"/>
          <p:cNvSpPr/>
          <p:nvPr/>
        </p:nvSpPr>
        <p:spPr>
          <a:xfrm>
            <a:off x="3385566" y="1965960"/>
            <a:ext cx="25808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66460" y="19659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22492" y="1965960"/>
            <a:ext cx="2580894" cy="457200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/>
        </p:spPr>
      </p:sp>
      <p:sp>
        <p:nvSpPr>
          <p:cNvPr id="11" name="Text 9"/>
          <p:cNvSpPr/>
          <p:nvPr/>
        </p:nvSpPr>
        <p:spPr>
          <a:xfrm>
            <a:off x="6222492" y="1965960"/>
            <a:ext cx="25808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03386" y="19659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9418" y="1965960"/>
            <a:ext cx="2580894" cy="457200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/>
        </p:spPr>
      </p:sp>
      <p:sp>
        <p:nvSpPr>
          <p:cNvPr id="14" name="Text 12"/>
          <p:cNvSpPr/>
          <p:nvPr/>
        </p:nvSpPr>
        <p:spPr>
          <a:xfrm>
            <a:off x="9059418" y="1965960"/>
            <a:ext cx="25808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Report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surfaces: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182112"/>
            <a:ext cx="82296" cy="82296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functions and their direct/indirect callers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639312"/>
            <a:ext cx="82296" cy="82296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tests and their current status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096512"/>
            <a:ext cx="82296" cy="82296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 in the affected code paths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553712"/>
            <a:ext cx="82296" cy="82296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Git history and authorship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010912"/>
            <a:ext cx="82296" cy="82296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areas worth investigating before merging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269748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222226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37960" y="32004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0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“Instead of manually searching across a repository, developers get the relevant evidence and context in one place.”</a:t>
            </a:r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222226"/>
          </a:solidFill>
          <a:ln w="12700">
            <a:solidFill>
              <a:srgbClr val="3737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62356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   </a:t>
            </a:r>
            <a:r>
              <a:rPr lang="en-US" sz="1150" dirty="0">
                <a:solidFill>
                  <a:srgbClr val="B7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language support  ·  pull-request integration  ·  richer repository visualizations  ·  CI/CD integration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487</Words>
  <Application>Microsoft Office PowerPoint</Application>
  <PresentationFormat>Widescreen</PresentationFormat>
  <Paragraphs>94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Sohail Abrar Khan</cp:lastModifiedBy>
  <cp:revision>4</cp:revision>
  <dcterms:created xsi:type="dcterms:W3CDTF">2026-09-27T12:50:43Z</dcterms:created>
  <dcterms:modified xsi:type="dcterms:W3CDTF">2026-09-27T13:03:33Z</dcterms:modified>
</cp:coreProperties>
</file>